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4" r:id="rId3"/>
    <p:sldId id="320" r:id="rId4"/>
    <p:sldId id="258" r:id="rId5"/>
    <p:sldId id="305" r:id="rId6"/>
    <p:sldId id="306" r:id="rId7"/>
    <p:sldId id="307" r:id="rId8"/>
    <p:sldId id="309" r:id="rId9"/>
    <p:sldId id="308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1" r:id="rId21"/>
    <p:sldId id="322" r:id="rId22"/>
    <p:sldId id="323" r:id="rId23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2E50-71CA-1251-54E3-D14F8DFE1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2B020-2C18-66C6-A9EE-1B1344A09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3F690-9C46-F65B-AA21-4438B9ED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CDCD5-6687-3DF4-12B5-B647CE246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E4989-370C-2502-A407-A7F63EBA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97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622B-6677-1AE7-C3CE-1885D290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5E9DC-2CE4-B6E2-6301-D75DA5585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8A01C-0E02-6D5B-9BBD-6E6EF0E31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14DF0-E5FC-8A1E-2029-CB48706A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FAACF-C175-30D2-3622-4EF482FA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logo with a circular design&#10;&#10;AI-generated content may be incorrect.">
            <a:extLst>
              <a:ext uri="{FF2B5EF4-FFF2-40B4-BE49-F238E27FC236}">
                <a16:creationId xmlns:a16="http://schemas.microsoft.com/office/drawing/2014/main" id="{8DF8FB0E-6337-320F-C658-6B6133CB6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453" y="6055743"/>
            <a:ext cx="1762695" cy="80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50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84FD-945B-D1D2-BF39-56E7E238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1C216-8983-C95D-2FA5-58BA1F381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68ED0-ACA2-61A0-9B38-78CCB670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A9AE5-6F8C-2DA9-4645-96552DC0A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9569A-B0DF-8F34-8A9A-846C54AF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36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75323-83CB-DB9A-DA8A-B4CD62BD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26B8-00DD-13DE-BC6F-14AD883FB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9A07F-7D41-5FE2-96BD-A89582389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886DE-0316-848C-845E-85A5B7E56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6BB64-419B-3D26-6CEB-9EB52D91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20EB9-9AF0-6CC9-454E-74683382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20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1D08-5E27-988D-9553-6D0C9C689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6A3BF-4397-9923-5CB5-2459147D1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F0507-D585-2483-8D9C-BDBB85116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DE7160-1F2C-6C05-304F-D5007983A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ABDBB-D2A0-3BFD-4952-90FBFB3E3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A0F9FB-D6D5-9B16-B066-752DD218C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FC796-1E18-B996-2F27-BFAC44CF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22EE1-2F3C-225D-2F9A-B45DBB78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11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0077-ACAA-92DC-E69E-A052ED193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A33729-9506-7AA3-EEF0-A151A91A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9585B9-6B66-5CDA-3FD7-E2AD3B0E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303F2-F5D3-CFEC-82DF-4ECAA08A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77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1D435-4292-D695-9B68-2F8C6D1D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9AD738-4A79-0892-C64E-63C173E3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C42E4-2117-886F-5BFF-66069032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3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5DF4-4775-974B-3666-28AAA156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48CE0-ED24-18FA-6DD8-555713155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C10A6-5326-844E-4953-05D62139E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401F6-1947-1377-7EC8-96130BCC5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1563E-E516-A649-CD2F-4DCFD7B8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AFE2F-C890-43D4-7153-10E6A30CF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76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1E51-3295-44CD-00D3-E64E50ED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BDAEC0-E276-D925-1CBF-F39466F86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69899-21EB-29C4-F7DD-0420BD4D7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D2146-3E9B-F95F-626A-864D1179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67EB8-5768-9169-60A4-139A20CA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8ABB6-AC9D-A146-1FBD-4D7722AA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22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DF79-954F-B415-D7E8-DC708E3C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AD10-98F8-483D-0C7A-CDA8911E7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EF18D-4D65-7566-934A-10BA2B07F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620AE-4761-7528-B3A6-BAC4A367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3FE7A-9FA7-6CF7-5793-E5E58A06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24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C17DA-EEE8-032A-E112-CD9E6AA69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BE415-5ABD-CE8C-0FE9-D86795371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B1DA7-968A-42CB-F2E3-E83889BC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592E4-BC16-844D-3B85-7CDBA7B6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EA7A1-2EC4-4A04-671E-DA7205C9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35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76BE6-F426-2F79-7798-5F1EF95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369AF-2EF7-87D0-8DF6-7DCA0DF4E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3C1EE-C661-35EF-2259-86D458F48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98C47-B3FE-4919-87F3-7FA232BFE9E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22AF7-D1AF-791E-11D1-2110D4D8C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51F07-3D73-1DB4-4024-79AC7F928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5C50E-E898-4679-A023-1FDBEB9133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68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 descr="A white background with red and black text">
            <a:extLst>
              <a:ext uri="{FF2B5EF4-FFF2-40B4-BE49-F238E27FC236}">
                <a16:creationId xmlns:a16="http://schemas.microsoft.com/office/drawing/2014/main" id="{BF1D2590-442A-2159-67A8-A28C06FD1E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"/>
          <a:stretch>
            <a:fillRect/>
          </a:stretch>
        </p:blipFill>
        <p:spPr>
          <a:xfrm>
            <a:off x="21" y="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B0E96-BFD3-9BD1-9B92-393DD2666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2561" y="4168644"/>
            <a:ext cx="4891139" cy="66653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7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and Claim Analysis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E40A0-AD93-B578-28DE-B34195B19FE5}"/>
              </a:ext>
            </a:extLst>
          </p:cNvPr>
          <p:cNvSpPr txBox="1"/>
          <p:nvPr/>
        </p:nvSpPr>
        <p:spPr>
          <a:xfrm>
            <a:off x="4045483" y="2967665"/>
            <a:ext cx="3376565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Power Bi  Project 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               on</a:t>
            </a:r>
            <a:br>
              <a:rPr lang="en-US" dirty="0"/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CEC3A1-CB36-72A1-D749-3216229ED914}"/>
              </a:ext>
            </a:extLst>
          </p:cNvPr>
          <p:cNvSpPr txBox="1"/>
          <p:nvPr/>
        </p:nvSpPr>
        <p:spPr>
          <a:xfrm>
            <a:off x="7731089" y="4625799"/>
            <a:ext cx="34154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Presented by :</a:t>
            </a:r>
            <a:r>
              <a:rPr lang="en-US" dirty="0"/>
              <a:t>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RAVINDRA NADH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no           :  403</a:t>
            </a:r>
          </a:p>
          <a:p>
            <a:endParaRPr lang="en-US" b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INNOMATICS RESEARCH LABS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DISUKHNAGAR BRANCH</a:t>
            </a:r>
            <a:endParaRPr lang="en-IN" b="1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36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744A4-796B-94F6-4B5B-6273C6A33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830" y="396815"/>
            <a:ext cx="11467381" cy="5860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What is Insurance?</a:t>
            </a:r>
          </a:p>
          <a:p>
            <a:r>
              <a:rPr lang="en-US" sz="2400" dirty="0"/>
              <a:t>A financial protection system where customers pay </a:t>
            </a:r>
            <a:r>
              <a:rPr lang="en-US" sz="2400" b="1" dirty="0"/>
              <a:t>premiums</a:t>
            </a:r>
            <a:r>
              <a:rPr lang="en-US" sz="2400" dirty="0"/>
              <a:t> to cover losses from </a:t>
            </a:r>
            <a:r>
              <a:rPr lang="en-US" sz="2400" b="1" dirty="0"/>
              <a:t>accidents, illness, or damage</a:t>
            </a:r>
            <a:r>
              <a:rPr lang="en-US" sz="2400" dirty="0"/>
              <a:t>.</a:t>
            </a:r>
          </a:p>
          <a:p>
            <a:r>
              <a:rPr lang="en-US" sz="2400" dirty="0"/>
              <a:t>Money from many is pooled so claims can be paid to the few who face losses.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What is a Claim?</a:t>
            </a:r>
          </a:p>
          <a:p>
            <a:r>
              <a:rPr lang="en-US" sz="2400" dirty="0"/>
              <a:t>A </a:t>
            </a:r>
            <a:r>
              <a:rPr lang="en-US" sz="2400" b="1" dirty="0"/>
              <a:t>request</a:t>
            </a:r>
            <a:r>
              <a:rPr lang="en-US" sz="2400" dirty="0"/>
              <a:t> made by a policyholder to get compensation for a </a:t>
            </a:r>
            <a:r>
              <a:rPr lang="en-US" sz="2400" b="1" dirty="0"/>
              <a:t>covered event</a:t>
            </a:r>
            <a:r>
              <a:rPr lang="en-US" sz="2400" dirty="0"/>
              <a:t> (like a car accident or health issue).</a:t>
            </a:r>
          </a:p>
          <a:p>
            <a:r>
              <a:rPr lang="en-US" sz="2400" dirty="0"/>
              <a:t>The insurer verifies the claim and pays if it meets policy terms.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39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CAEF7-9DB8-89CC-F860-E9816310A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8098"/>
            <a:ext cx="10515600" cy="5578865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How Insurers Earn Profit</a:t>
            </a:r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/>
              <a:t>Collect </a:t>
            </a:r>
            <a:r>
              <a:rPr lang="en-US" sz="1800" b="1" dirty="0"/>
              <a:t>premiums</a:t>
            </a:r>
            <a:r>
              <a:rPr lang="en-US" sz="1800" dirty="0"/>
              <a:t> from customers.</a:t>
            </a:r>
          </a:p>
          <a:p>
            <a:r>
              <a:rPr lang="en-US" sz="1800" dirty="0"/>
              <a:t>Pay </a:t>
            </a:r>
            <a:r>
              <a:rPr lang="en-US" sz="1800" b="1" dirty="0"/>
              <a:t>valid claims</a:t>
            </a:r>
            <a:r>
              <a:rPr lang="en-US" sz="1800" dirty="0"/>
              <a:t> and invest remaining funds.</a:t>
            </a:r>
          </a:p>
          <a:p>
            <a:r>
              <a:rPr lang="en-US" sz="1800" dirty="0"/>
              <a:t>Profit = </a:t>
            </a:r>
            <a:r>
              <a:rPr lang="en-US" sz="1800" b="1" dirty="0"/>
              <a:t>Premiums + Investments – Claims – Costs</a:t>
            </a:r>
            <a:r>
              <a:rPr lang="en-US" sz="1800" dirty="0"/>
              <a:t>.</a:t>
            </a:r>
          </a:p>
          <a:p>
            <a:r>
              <a:rPr lang="en-US" sz="1800" dirty="0"/>
              <a:t>Maintain balance through risk analysis, pricing, and fraud checks.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Claim Process </a:t>
            </a:r>
          </a:p>
          <a:p>
            <a:r>
              <a:rPr lang="en-US" sz="1800" dirty="0"/>
              <a:t>Customer reports incident.</a:t>
            </a:r>
          </a:p>
          <a:p>
            <a:r>
              <a:rPr lang="en-US" sz="1800" dirty="0"/>
              <a:t>Submits claim form &amp; documents.</a:t>
            </a:r>
          </a:p>
          <a:p>
            <a:r>
              <a:rPr lang="en-US" sz="1800" dirty="0"/>
              <a:t>Insurer reviews &amp; investigates.</a:t>
            </a:r>
          </a:p>
          <a:p>
            <a:r>
              <a:rPr lang="en-US" sz="1800" dirty="0"/>
              <a:t>Coverage verified.</a:t>
            </a:r>
          </a:p>
          <a:p>
            <a:r>
              <a:rPr lang="en-US" sz="1800" dirty="0"/>
              <a:t>Payment processed &amp; claim closed.</a:t>
            </a:r>
          </a:p>
          <a:p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01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44D8-C0E9-BF4C-82A6-D9E0D169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 statement:</a:t>
            </a:r>
            <a:br>
              <a:rPr lang="en-US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477A7-25B0-B379-47D9-5FEA47691E34}"/>
              </a:ext>
            </a:extLst>
          </p:cNvPr>
          <p:cNvSpPr txBox="1"/>
          <p:nvPr/>
        </p:nvSpPr>
        <p:spPr>
          <a:xfrm>
            <a:off x="740313" y="2693194"/>
            <a:ext cx="29210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Objective: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17C3C-874B-BA2A-C52B-5E69F3C1BD85}"/>
              </a:ext>
            </a:extLst>
          </p:cNvPr>
          <p:cNvSpPr txBox="1"/>
          <p:nvPr/>
        </p:nvSpPr>
        <p:spPr>
          <a:xfrm>
            <a:off x="1069676" y="1181271"/>
            <a:ext cx="101274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Insurance companies often struggle to efficiently track claim patterns, identify high-risk customers, and manage unpredictable claim costs due to scattered and complex data. This makes it challenging to quickly spot trends, control losses, and respond to real-world issues like fraud or costly payouts. A streamlined approach is needed to unify customer, vehicle, and claims data for clear, actionable insights that improve decision-making.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049FC-DDFB-CF65-F652-3BDD0A238FCF}"/>
              </a:ext>
            </a:extLst>
          </p:cNvPr>
          <p:cNvSpPr txBox="1"/>
          <p:nvPr/>
        </p:nvSpPr>
        <p:spPr>
          <a:xfrm>
            <a:off x="969035" y="3661105"/>
            <a:ext cx="10297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main objective of this project is to build an interactive </a:t>
            </a:r>
            <a:r>
              <a:rPr lang="en-US" b="1" dirty="0"/>
              <a:t>Power BI dashboard </a:t>
            </a:r>
            <a:r>
              <a:rPr lang="en-US" dirty="0"/>
              <a:t>that analyzes insurance customer and claims data to uncover key trends, risk factors, and high-impact segments. The dashboard will help managers instantly visualize claim amounts, frequency, and customer patterns, enabling better risk management, faster business decisions, and improved company profitability.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88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B49FA-0CFD-8B88-D39B-00F30E8B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ADD1-E757-89F4-B242-2CB2855DD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488" y="37087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Data set description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BF69-116B-96E5-465C-7FE427E58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4475"/>
            <a:ext cx="10515600" cy="498031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ID: </a:t>
            </a:r>
            <a:r>
              <a:rPr lang="en-US" dirty="0"/>
              <a:t>Unique number to identify each customer or case</a:t>
            </a:r>
          </a:p>
          <a:p>
            <a:r>
              <a:rPr lang="en-US" b="1" dirty="0" err="1"/>
              <a:t>BirthDate</a:t>
            </a:r>
            <a:r>
              <a:rPr lang="en-US" b="1" dirty="0"/>
              <a:t>: </a:t>
            </a:r>
            <a:r>
              <a:rPr lang="en-US" dirty="0"/>
              <a:t>The date the customer was born (used to find their age)</a:t>
            </a:r>
          </a:p>
          <a:p>
            <a:r>
              <a:rPr lang="en-US" b="1" dirty="0"/>
              <a:t>Car Color: </a:t>
            </a:r>
            <a:r>
              <a:rPr lang="en-US" dirty="0"/>
              <a:t>The color of the customer’s car</a:t>
            </a:r>
          </a:p>
          <a:p>
            <a:r>
              <a:rPr lang="en-US" b="1" dirty="0"/>
              <a:t>Car Make: </a:t>
            </a:r>
            <a:r>
              <a:rPr lang="en-US" dirty="0"/>
              <a:t>The brand or company that made the car (like Ford, Nissan)</a:t>
            </a:r>
          </a:p>
          <a:p>
            <a:r>
              <a:rPr lang="en-US" b="1" dirty="0"/>
              <a:t>Car Model: </a:t>
            </a:r>
            <a:r>
              <a:rPr lang="en-US" dirty="0"/>
              <a:t>The specific type or name of the car</a:t>
            </a:r>
          </a:p>
          <a:p>
            <a:r>
              <a:rPr lang="en-US" b="1" dirty="0"/>
              <a:t>Car Use: </a:t>
            </a:r>
            <a:r>
              <a:rPr lang="en-US" dirty="0"/>
              <a:t>Shows if the car is used for personal (Private) or business (Commercial) purposes</a:t>
            </a:r>
          </a:p>
          <a:p>
            <a:r>
              <a:rPr lang="en-US" b="1" dirty="0"/>
              <a:t>Car Year: </a:t>
            </a:r>
            <a:r>
              <a:rPr lang="en-US" dirty="0"/>
              <a:t>The year the car was made</a:t>
            </a:r>
          </a:p>
          <a:p>
            <a:r>
              <a:rPr lang="en-US" b="1" dirty="0"/>
              <a:t>Coverage Zone: </a:t>
            </a:r>
            <a:r>
              <a:rPr lang="en-US" dirty="0"/>
              <a:t>The area where the car is mainly used (urban, rural, suburb, etc.)</a:t>
            </a:r>
          </a:p>
          <a:p>
            <a:r>
              <a:rPr lang="en-US" b="1" dirty="0"/>
              <a:t>Education: </a:t>
            </a:r>
            <a:r>
              <a:rPr lang="en-US" dirty="0"/>
              <a:t>The highest education level of the customer (High School, Bachelors, etc.)</a:t>
            </a:r>
          </a:p>
          <a:p>
            <a:r>
              <a:rPr lang="en-US" b="1" dirty="0"/>
              <a:t>Gender: </a:t>
            </a:r>
            <a:r>
              <a:rPr lang="en-US" dirty="0"/>
              <a:t>Whether the customer is male or female</a:t>
            </a:r>
          </a:p>
          <a:p>
            <a:r>
              <a:rPr lang="en-US" b="1" dirty="0"/>
              <a:t>Marital Status: </a:t>
            </a:r>
            <a:r>
              <a:rPr lang="en-US" dirty="0"/>
              <a:t>Current relationship status (Single, Married, Divorced...)</a:t>
            </a:r>
          </a:p>
          <a:p>
            <a:r>
              <a:rPr lang="en-US" b="1" dirty="0"/>
              <a:t>Parent: </a:t>
            </a:r>
            <a:r>
              <a:rPr lang="en-US" dirty="0"/>
              <a:t>Whether the customer has children (Yes/No)</a:t>
            </a:r>
          </a:p>
          <a:p>
            <a:r>
              <a:rPr lang="en-US" b="1" dirty="0"/>
              <a:t>Claim Amount: </a:t>
            </a:r>
            <a:r>
              <a:rPr lang="en-US" dirty="0"/>
              <a:t>Total amount of money claimed by the customer</a:t>
            </a:r>
          </a:p>
          <a:p>
            <a:r>
              <a:rPr lang="en-US" b="1" dirty="0"/>
              <a:t>Claim Freq: </a:t>
            </a:r>
            <a:r>
              <a:rPr lang="en-US" dirty="0"/>
              <a:t>How many times the customer has filed an insurance claim</a:t>
            </a:r>
          </a:p>
          <a:p>
            <a:r>
              <a:rPr lang="en-US" b="1" dirty="0"/>
              <a:t>Household Income: </a:t>
            </a:r>
            <a:r>
              <a:rPr lang="en-US" dirty="0"/>
              <a:t>The total income for the customer’s household</a:t>
            </a:r>
          </a:p>
          <a:p>
            <a:r>
              <a:rPr lang="en-US" b="1" dirty="0"/>
              <a:t>Kids Driving: </a:t>
            </a:r>
            <a:r>
              <a:rPr lang="en-US" dirty="0"/>
              <a:t>Number of kids in the household who drive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13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6F1E-DD65-C09A-85F0-F2EDF9B9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Data Cleaning :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AB1CE-978D-C64E-BE9D-59149C9A5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Removed duplicate records and fixed missing values for accuracy</a:t>
            </a:r>
          </a:p>
          <a:p>
            <a:r>
              <a:rPr lang="en-US" sz="2000" dirty="0"/>
              <a:t>Standardized </a:t>
            </a:r>
            <a:r>
              <a:rPr lang="en-US" sz="2000" dirty="0" err="1"/>
              <a:t>BirthDate</a:t>
            </a:r>
            <a:r>
              <a:rPr lang="en-US" sz="2000" dirty="0"/>
              <a:t>, car details, and text formats</a:t>
            </a:r>
          </a:p>
          <a:p>
            <a:r>
              <a:rPr lang="en-US" sz="2000" dirty="0"/>
              <a:t>Checked for and handled outliers in claim amounts and household incomes</a:t>
            </a:r>
          </a:p>
          <a:p>
            <a:r>
              <a:rPr lang="en-US" sz="2000" dirty="0"/>
              <a:t>Created new columns (Age, Car Age) from existing data</a:t>
            </a:r>
          </a:p>
          <a:p>
            <a:r>
              <a:rPr lang="en-US" sz="2000" dirty="0"/>
              <a:t>Ensured all data types were set correctly for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54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A8CAC-8BA6-3968-0E93-0970D7E4C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030"/>
            <a:ext cx="10515600" cy="4370717"/>
          </a:xfrm>
        </p:spPr>
        <p:txBody>
          <a:bodyPr>
            <a:normAutofit/>
          </a:bodyPr>
          <a:lstStyle/>
          <a:p>
            <a:r>
              <a:rPr lang="en-US" sz="2000" b="1" dirty="0"/>
              <a:t>Total Claims Amount</a:t>
            </a:r>
            <a:r>
              <a:rPr lang="en-US" sz="2000" dirty="0"/>
              <a:t>: Adds up all claim payouts</a:t>
            </a:r>
          </a:p>
          <a:p>
            <a:r>
              <a:rPr lang="en-US" sz="2000" b="1" dirty="0"/>
              <a:t>Average Claim Amount</a:t>
            </a:r>
            <a:r>
              <a:rPr lang="en-US" sz="2000" dirty="0"/>
              <a:t>: Finds the typical claim value</a:t>
            </a:r>
          </a:p>
          <a:p>
            <a:r>
              <a:rPr lang="en-US" sz="2000" b="1" dirty="0"/>
              <a:t>Total Policies</a:t>
            </a:r>
            <a:r>
              <a:rPr lang="en-US" sz="2000" dirty="0"/>
              <a:t>: Counts unique insurance records</a:t>
            </a:r>
          </a:p>
          <a:p>
            <a:r>
              <a:rPr lang="en-US" sz="2000" b="1" dirty="0"/>
              <a:t>Claim Frequency</a:t>
            </a:r>
            <a:r>
              <a:rPr lang="en-US" sz="2000" dirty="0"/>
              <a:t>: Calculates average number of claims per customer</a:t>
            </a:r>
          </a:p>
          <a:p>
            <a:r>
              <a:rPr lang="en-US" sz="2000" b="1" dirty="0"/>
              <a:t>Claims by </a:t>
            </a:r>
            <a:r>
              <a:rPr lang="en-US" sz="2000" b="1" dirty="0" err="1"/>
              <a:t>Category</a:t>
            </a:r>
            <a:r>
              <a:rPr lang="en-US" sz="2000" dirty="0" err="1"/>
              <a:t>:Sums</a:t>
            </a:r>
            <a:r>
              <a:rPr lang="en-US" sz="2000" dirty="0"/>
              <a:t> claims by selected group</a:t>
            </a:r>
          </a:p>
          <a:p>
            <a:r>
              <a:rPr lang="en-US" sz="2000" b="1" dirty="0"/>
              <a:t>Customer Age</a:t>
            </a:r>
            <a:r>
              <a:rPr lang="en-US" sz="2000" dirty="0"/>
              <a:t>: Finds policyholder age</a:t>
            </a:r>
          </a:p>
          <a:p>
            <a:r>
              <a:rPr lang="en-US" sz="2000" b="1" dirty="0"/>
              <a:t>Car Age</a:t>
            </a:r>
            <a:r>
              <a:rPr lang="en-US" sz="2000" dirty="0"/>
              <a:t>: Finds vehicle age</a:t>
            </a:r>
          </a:p>
          <a:p>
            <a:r>
              <a:rPr lang="en-IN" sz="2000" b="1" dirty="0"/>
              <a:t>Male </a:t>
            </a:r>
            <a:r>
              <a:rPr lang="en-IN" sz="2000" b="1" dirty="0" err="1"/>
              <a:t>Count</a:t>
            </a:r>
            <a:r>
              <a:rPr lang="en-IN" dirty="0" err="1"/>
              <a:t>:</a:t>
            </a:r>
            <a:r>
              <a:rPr lang="en-IN" sz="2000" dirty="0" err="1"/>
              <a:t>Counts</a:t>
            </a:r>
            <a:r>
              <a:rPr lang="en-IN" sz="2000" dirty="0"/>
              <a:t> male customers</a:t>
            </a:r>
          </a:p>
          <a:p>
            <a:r>
              <a:rPr lang="en-IN" sz="2000" b="1" dirty="0"/>
              <a:t>Female Count</a:t>
            </a:r>
            <a:r>
              <a:rPr lang="en-IN" dirty="0"/>
              <a:t>: </a:t>
            </a:r>
            <a:r>
              <a:rPr lang="en-IN" sz="2000" dirty="0"/>
              <a:t>Counts female customers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C32186-30A5-0730-63DC-06038D6F3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20" y="658423"/>
            <a:ext cx="10515600" cy="1325563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Measures and DAX  :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76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93599-CEA5-DB57-A139-5A1175FE7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70C0"/>
                </a:solidFill>
              </a:rPr>
              <a:t>How many policies are active, and what is the average claim amount?</a:t>
            </a:r>
          </a:p>
          <a:p>
            <a:pPr marL="0" indent="0">
              <a:buNone/>
            </a:pPr>
            <a:r>
              <a:rPr lang="en-US" sz="1800" b="1" dirty="0"/>
              <a:t>Insights:</a:t>
            </a:r>
          </a:p>
          <a:p>
            <a:r>
              <a:rPr lang="en-US" sz="1800" dirty="0"/>
              <a:t>Total active policies stand at </a:t>
            </a:r>
            <a:r>
              <a:rPr lang="en-US" sz="1800" b="1" dirty="0"/>
              <a:t>37,542</a:t>
            </a:r>
            <a:r>
              <a:rPr lang="en-US" sz="1800" dirty="0"/>
              <a:t>, showing a strong customer base.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average claim amount is $5K</a:t>
            </a:r>
            <a:r>
              <a:rPr lang="en-US" sz="1800" dirty="0"/>
              <a:t>, indicating moderate claim severity.</a:t>
            </a:r>
          </a:p>
          <a:p>
            <a:r>
              <a:rPr lang="en-US" sz="1800" dirty="0"/>
              <a:t>Claims appear </a:t>
            </a:r>
            <a:r>
              <a:rPr lang="en-US" sz="1800" b="1" dirty="0"/>
              <a:t>manageable and consistent</a:t>
            </a:r>
            <a:r>
              <a:rPr lang="en-US" sz="1800" dirty="0"/>
              <a:t>, supporting good risk control.</a:t>
            </a:r>
          </a:p>
          <a:p>
            <a:pPr marL="0" indent="0">
              <a:buNone/>
            </a:pPr>
            <a:r>
              <a:rPr lang="en-US" sz="1800" b="1" dirty="0"/>
              <a:t>Recommendation:</a:t>
            </a:r>
          </a:p>
          <a:p>
            <a:r>
              <a:rPr lang="en-US" sz="1800" dirty="0"/>
              <a:t>The company should </a:t>
            </a:r>
            <a:r>
              <a:rPr lang="en-US" sz="1800" b="1" dirty="0"/>
              <a:t>focus on customer retention and cross-selling</a:t>
            </a:r>
            <a:r>
              <a:rPr lang="en-US" sz="1800" dirty="0"/>
              <a:t> within this large policy base while maintaining claim costs around the $5K mark through </a:t>
            </a:r>
            <a:r>
              <a:rPr lang="en-US" sz="1800" b="1" dirty="0"/>
              <a:t>fraud detection, preventive safety programs, and regular policy reviews</a:t>
            </a:r>
            <a:r>
              <a:rPr lang="en-US" sz="1800" dirty="0"/>
              <a:t> to preserve profitability.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8F9413-3947-337A-16D0-962F6A7D2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966" y="540623"/>
            <a:ext cx="10515600" cy="1325563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Visualizations: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6" name="Picture 5" descr="A blue and black sign with black text&#10;&#10;AI-generated content may be incorrect.">
            <a:extLst>
              <a:ext uri="{FF2B5EF4-FFF2-40B4-BE49-F238E27FC236}">
                <a16:creationId xmlns:a16="http://schemas.microsoft.com/office/drawing/2014/main" id="{772FFC5C-9DE7-9315-71B0-C2457E107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316" y="1203405"/>
            <a:ext cx="2288236" cy="168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3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E82C2D-8055-239A-BCDD-A261B4D2F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06637" y="1426559"/>
            <a:ext cx="2476869" cy="1741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DE15B1-9676-0052-C4B0-2896E8F226E3}"/>
              </a:ext>
            </a:extLst>
          </p:cNvPr>
          <p:cNvSpPr txBox="1"/>
          <p:nvPr/>
        </p:nvSpPr>
        <p:spPr>
          <a:xfrm>
            <a:off x="925902" y="1083892"/>
            <a:ext cx="70312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What is the gender distribution of policyholders?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/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Male (18.7K) and Female (18.8K) — </a:t>
            </a:r>
            <a:r>
              <a:rPr lang="en-US" b="1" dirty="0"/>
              <a:t>balanced customer base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Equal risk exposure</a:t>
            </a:r>
            <a:r>
              <a:rPr lang="en-US" dirty="0"/>
              <a:t> across genders.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Chance to </a:t>
            </a:r>
            <a:r>
              <a:rPr lang="en-US" b="1" dirty="0"/>
              <a:t>analyze gender-wise claim behavior</a:t>
            </a:r>
            <a:r>
              <a:rPr lang="en-US" dirty="0"/>
              <a:t> for better pricing.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06AB8-05E2-223C-3547-8B0C40B8B983}"/>
              </a:ext>
            </a:extLst>
          </p:cNvPr>
          <p:cNvSpPr txBox="1"/>
          <p:nvPr/>
        </p:nvSpPr>
        <p:spPr>
          <a:xfrm>
            <a:off x="925902" y="3616416"/>
            <a:ext cx="104278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Recommendation:</a:t>
            </a:r>
          </a:p>
          <a:p>
            <a:r>
              <a:rPr lang="en-US" dirty="0"/>
              <a:t>The company should conduct a </a:t>
            </a:r>
            <a:r>
              <a:rPr lang="en-US" b="1" dirty="0"/>
              <a:t>detailed gender-based claims analysis</a:t>
            </a:r>
            <a:r>
              <a:rPr lang="en-US" dirty="0"/>
              <a:t> to identify differences in claim frequency, amount, or type. Based on the results, it can </a:t>
            </a:r>
            <a:r>
              <a:rPr lang="en-US" b="1" dirty="0"/>
              <a:t>create personalized insurance packages or premium adjustments</a:t>
            </a:r>
            <a:r>
              <a:rPr lang="en-US" dirty="0"/>
              <a:t> that reward lower-risk groups and improve overall profitability.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862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8288-5F8C-FC49-0614-D1326B76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What is the total claim amount and how frequently are claims made?</a:t>
            </a:r>
            <a:endParaRPr lang="en-IN" sz="1800" b="1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1F34E-DBF8-F796-BD26-C7DE394D5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Insights:</a:t>
            </a:r>
          </a:p>
          <a:p>
            <a:r>
              <a:rPr lang="en-US" sz="1900" b="1" dirty="0"/>
              <a:t>Total claim amount:</a:t>
            </a:r>
            <a:r>
              <a:rPr lang="en-US" sz="1900" dirty="0"/>
              <a:t> $188M — indicates substantial payout volume.</a:t>
            </a:r>
          </a:p>
          <a:p>
            <a:r>
              <a:rPr lang="en-US" sz="1900" b="1" dirty="0"/>
              <a:t>Average claim frequency:</a:t>
            </a:r>
            <a:r>
              <a:rPr lang="en-US" sz="1900" dirty="0"/>
              <a:t> 0.5 — about one claim for every two policies.</a:t>
            </a:r>
          </a:p>
          <a:p>
            <a:r>
              <a:rPr lang="en-US" sz="1900" dirty="0"/>
              <a:t>Suggests a </a:t>
            </a:r>
            <a:r>
              <a:rPr lang="en-US" sz="1900" b="1" dirty="0"/>
              <a:t>moderate claim rate</a:t>
            </a:r>
            <a:r>
              <a:rPr lang="en-US" sz="1900" dirty="0"/>
              <a:t> and effective risk management.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Recommendation:</a:t>
            </a:r>
          </a:p>
          <a:p>
            <a:r>
              <a:rPr lang="en-US" sz="1900" dirty="0"/>
              <a:t>The insurer should </a:t>
            </a:r>
            <a:r>
              <a:rPr lang="en-US" sz="1900" b="1" dirty="0"/>
              <a:t>analyze claim frequency by customer segment or region</a:t>
            </a:r>
            <a:r>
              <a:rPr lang="en-US" sz="1900" dirty="0"/>
              <a:t> to identify high-risk areas. Introducing </a:t>
            </a:r>
            <a:r>
              <a:rPr lang="en-US" sz="1900" b="1" dirty="0"/>
              <a:t>preventive measures, usage-based pricing, and safety awareness programs</a:t>
            </a:r>
            <a:r>
              <a:rPr lang="en-US" sz="1900" dirty="0"/>
              <a:t> can help lower claim frequency and protect profit margins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04218-DD13-BDB3-2400-CEA2AD964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990" y="1825625"/>
            <a:ext cx="2084687" cy="151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8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8A14-6A74-E891-1655-D02629404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29" y="500062"/>
            <a:ext cx="10515600" cy="13255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How does the total claim amount vary by education level?</a:t>
            </a:r>
            <a:endParaRPr lang="en-IN" sz="1800" b="1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B7A1-07EB-E49D-DEA3-0782E112F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Insights:</a:t>
            </a:r>
          </a:p>
          <a:p>
            <a:r>
              <a:rPr lang="en-US" sz="1900" b="1" dirty="0"/>
              <a:t>Bachelor’s holders</a:t>
            </a:r>
            <a:r>
              <a:rPr lang="en-US" sz="1900" dirty="0"/>
              <a:t> have the highest claim amount at </a:t>
            </a:r>
            <a:r>
              <a:rPr lang="en-US" sz="1900" b="1" dirty="0"/>
              <a:t>$94.02M</a:t>
            </a:r>
            <a:r>
              <a:rPr lang="en-US" sz="1900" dirty="0"/>
              <a:t>.</a:t>
            </a:r>
          </a:p>
          <a:p>
            <a:r>
              <a:rPr lang="en-US" sz="1900" b="1" dirty="0"/>
              <a:t>Claim amounts decrease</a:t>
            </a:r>
            <a:r>
              <a:rPr lang="en-US" sz="1900" dirty="0"/>
              <a:t> as education level increases.</a:t>
            </a:r>
          </a:p>
          <a:p>
            <a:r>
              <a:rPr lang="en-US" sz="1900" b="1" dirty="0"/>
              <a:t>PhD holders</a:t>
            </a:r>
            <a:r>
              <a:rPr lang="en-US" sz="1900" dirty="0"/>
              <a:t> show the lowest total claim amount (</a:t>
            </a:r>
            <a:r>
              <a:rPr lang="en-US" sz="1900" b="1" dirty="0"/>
              <a:t>$13.69M</a:t>
            </a:r>
            <a:r>
              <a:rPr lang="en-US" sz="1900" dirty="0"/>
              <a:t>), suggesting lower risk.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Recommendation:</a:t>
            </a:r>
          </a:p>
          <a:p>
            <a:r>
              <a:rPr lang="en-US" sz="1900" dirty="0"/>
              <a:t>The company should </a:t>
            </a:r>
            <a:r>
              <a:rPr lang="en-US" sz="1900" b="1" dirty="0"/>
              <a:t>leverage education as a risk factor</a:t>
            </a:r>
            <a:r>
              <a:rPr lang="en-US" sz="1900" dirty="0"/>
              <a:t> in pricing strategies. Offering </a:t>
            </a:r>
            <a:r>
              <a:rPr lang="en-US" sz="1900" b="1" dirty="0"/>
              <a:t>premium discounts or loyalty rewards</a:t>
            </a:r>
            <a:r>
              <a:rPr lang="en-US" sz="1900" dirty="0"/>
              <a:t> to highly educated customers (who show lower claim trends) can improve retention of low-risk clients and enhance profitability.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DDC51-DD84-3758-5F01-FB4B3272E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556" y="1069675"/>
            <a:ext cx="2043631" cy="188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4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1AAED-436D-500E-7EE6-F55A8504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How does the total claim amount differ between private and commercial car use?</a:t>
            </a:r>
            <a:endParaRPr lang="en-IN" sz="1800" b="1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E9C7E-7EEB-9CDB-8851-11CCBE540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Insights:</a:t>
            </a:r>
          </a:p>
          <a:p>
            <a:r>
              <a:rPr lang="en-US" sz="1900" b="1" dirty="0"/>
              <a:t>Private vehicles</a:t>
            </a:r>
            <a:r>
              <a:rPr lang="en-US" sz="1900" dirty="0"/>
              <a:t> account for the majority of claims — </a:t>
            </a:r>
            <a:r>
              <a:rPr lang="en-US" sz="1900" b="1" dirty="0"/>
              <a:t>$150.4M</a:t>
            </a:r>
            <a:r>
              <a:rPr lang="en-US" sz="1900" dirty="0"/>
              <a:t>.</a:t>
            </a:r>
          </a:p>
          <a:p>
            <a:r>
              <a:rPr lang="en-US" sz="1900" b="1" dirty="0"/>
              <a:t>Commercial vehicles</a:t>
            </a:r>
            <a:r>
              <a:rPr lang="en-US" sz="1900" dirty="0"/>
              <a:t> contribute significantly less — </a:t>
            </a:r>
            <a:r>
              <a:rPr lang="en-US" sz="1900" b="1" dirty="0"/>
              <a:t>$37.4M</a:t>
            </a:r>
            <a:r>
              <a:rPr lang="en-US" sz="1900" dirty="0"/>
              <a:t>.</a:t>
            </a:r>
          </a:p>
          <a:p>
            <a:r>
              <a:rPr lang="en-US" sz="1900" dirty="0"/>
              <a:t>Indicates </a:t>
            </a:r>
            <a:r>
              <a:rPr lang="en-US" sz="1900" b="1" dirty="0"/>
              <a:t>higher claim volume from personal usage</a:t>
            </a:r>
            <a:r>
              <a:rPr lang="en-US" sz="1900" dirty="0"/>
              <a:t> due to greater policy count.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Recommendation:</a:t>
            </a:r>
          </a:p>
          <a:p>
            <a:r>
              <a:rPr lang="en-US" sz="1900" dirty="0"/>
              <a:t>The company should </a:t>
            </a:r>
            <a:r>
              <a:rPr lang="en-US" sz="1900" b="1" dirty="0"/>
              <a:t>review claim frequency and severity for private vs. commercial vehicles</a:t>
            </a:r>
            <a:r>
              <a:rPr lang="en-US" sz="1900" dirty="0"/>
              <a:t>. Introducing </a:t>
            </a:r>
            <a:r>
              <a:rPr lang="en-US" sz="1900" b="1" dirty="0"/>
              <a:t>usage-based insurance</a:t>
            </a:r>
            <a:r>
              <a:rPr lang="en-US" sz="1900" dirty="0"/>
              <a:t> and </a:t>
            </a:r>
            <a:r>
              <a:rPr lang="en-US" sz="1900" b="1" dirty="0"/>
              <a:t>driver safety programs</a:t>
            </a:r>
            <a:r>
              <a:rPr lang="en-US" sz="1900" dirty="0"/>
              <a:t> for private users can help reduce frequent claims, while optimizing </a:t>
            </a:r>
            <a:r>
              <a:rPr lang="en-US" sz="1900" b="1" dirty="0"/>
              <a:t>premium pricing for commercial fleets</a:t>
            </a:r>
            <a:r>
              <a:rPr lang="en-US" sz="1900" dirty="0"/>
              <a:t> based on mileage and risk exposure.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36F52-84FC-5A5A-FDE7-27B624471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954" y="1200803"/>
            <a:ext cx="2272846" cy="182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6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46649-D03F-8E50-0112-4BD11F56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How does the total claim amount vary across different coverage zones?</a:t>
            </a:r>
            <a:endParaRPr lang="en-IN" sz="1800" b="1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CB0AB-8F7F-CFBF-C385-FA600EF98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Insights:</a:t>
            </a:r>
          </a:p>
          <a:p>
            <a:r>
              <a:rPr lang="en-US" sz="1800" b="1" dirty="0"/>
              <a:t>Urban and Highly urban zones</a:t>
            </a:r>
            <a:r>
              <a:rPr lang="en-US" sz="1800" dirty="0"/>
              <a:t> show the highest claim amount — </a:t>
            </a:r>
            <a:r>
              <a:rPr lang="en-US" sz="1800" b="1" dirty="0"/>
              <a:t>$38.23M (20.35%)</a:t>
            </a:r>
            <a:r>
              <a:rPr lang="en-US" sz="1800" dirty="0"/>
              <a:t>.</a:t>
            </a:r>
          </a:p>
          <a:p>
            <a:r>
              <a:rPr lang="en-US" sz="1800" b="1" dirty="0"/>
              <a:t>Highly rural, rural, and suburban zones</a:t>
            </a:r>
            <a:r>
              <a:rPr lang="en-US" sz="1800" dirty="0"/>
              <a:t> have nearly equal claim shares (~19–20%).</a:t>
            </a:r>
          </a:p>
          <a:p>
            <a:r>
              <a:rPr lang="en-US" sz="1800" b="1" dirty="0"/>
              <a:t>Claims are fairly distributed</a:t>
            </a:r>
            <a:r>
              <a:rPr lang="en-US" sz="1800" dirty="0"/>
              <a:t>, but slightly higher in densely populated areas.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Recommendation:</a:t>
            </a:r>
          </a:p>
          <a:p>
            <a:r>
              <a:rPr lang="en-US" sz="1800" dirty="0"/>
              <a:t>The company should </a:t>
            </a:r>
            <a:r>
              <a:rPr lang="en-US" sz="1800" b="1" dirty="0"/>
              <a:t>implement region-based pricing and risk models</a:t>
            </a:r>
            <a:r>
              <a:rPr lang="en-US" sz="1800" dirty="0"/>
              <a:t>, charging slightly higher premiums in </a:t>
            </a:r>
            <a:r>
              <a:rPr lang="en-US" sz="1800" b="1" dirty="0"/>
              <a:t>urban and highly urban zones</a:t>
            </a:r>
            <a:r>
              <a:rPr lang="en-US" sz="1800" dirty="0"/>
              <a:t> where claim frequency and severity are higher, while offering </a:t>
            </a:r>
            <a:r>
              <a:rPr lang="en-US" sz="1800" b="1" dirty="0"/>
              <a:t>discounts or incentives in rural areas</a:t>
            </a:r>
            <a:r>
              <a:rPr lang="en-US" sz="1800" dirty="0"/>
              <a:t> to attract more low-risk customers.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A00C06-3FD4-1661-8906-B4D803F6B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069" y="1218693"/>
            <a:ext cx="2109620" cy="174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8966-40B4-0795-051C-68222CF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Which car makes have the highest total claim amounts?</a:t>
            </a:r>
            <a:endParaRPr lang="en-IN" sz="1800" b="1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1822F-9DD5-9EEB-2159-465E07CB4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Insights:</a:t>
            </a:r>
          </a:p>
          <a:p>
            <a:r>
              <a:rPr lang="en-US" sz="1900" b="1" dirty="0"/>
              <a:t>Ford</a:t>
            </a:r>
            <a:r>
              <a:rPr lang="en-US" sz="1900" dirty="0"/>
              <a:t> leads with the highest claim amount — </a:t>
            </a:r>
            <a:r>
              <a:rPr lang="en-US" sz="1900" b="1" dirty="0"/>
              <a:t>$16.6M</a:t>
            </a:r>
            <a:r>
              <a:rPr lang="en-US" sz="1900" dirty="0"/>
              <a:t>.</a:t>
            </a:r>
          </a:p>
          <a:p>
            <a:r>
              <a:rPr lang="en-US" sz="1900" b="1" dirty="0"/>
              <a:t>Chevrolet</a:t>
            </a:r>
            <a:r>
              <a:rPr lang="en-US" sz="1900" dirty="0"/>
              <a:t> follows closely at </a:t>
            </a:r>
            <a:r>
              <a:rPr lang="en-US" sz="1900" b="1" dirty="0"/>
              <a:t>$14.8M</a:t>
            </a:r>
            <a:r>
              <a:rPr lang="en-US" sz="1900" dirty="0"/>
              <a:t>, showing similar risk exposure.</a:t>
            </a:r>
          </a:p>
          <a:p>
            <a:r>
              <a:rPr lang="en-US" sz="1900" b="1" dirty="0"/>
              <a:t>Luxury brands</a:t>
            </a:r>
            <a:r>
              <a:rPr lang="en-US" sz="1900" dirty="0"/>
              <a:t> like Mercedes and Volkswagen show </a:t>
            </a:r>
            <a:r>
              <a:rPr lang="en-US" sz="1900" b="1" dirty="0"/>
              <a:t>lower total claims</a:t>
            </a:r>
            <a:r>
              <a:rPr lang="en-US" sz="1900" dirty="0"/>
              <a:t>, likely due to fewer policyholders.</a:t>
            </a:r>
          </a:p>
          <a:p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Recommendation:</a:t>
            </a:r>
          </a:p>
          <a:p>
            <a:r>
              <a:rPr lang="en-US" sz="1900" dirty="0"/>
              <a:t>The insurer should </a:t>
            </a:r>
            <a:r>
              <a:rPr lang="en-US" sz="1900" b="1" dirty="0"/>
              <a:t>analyze claim frequency and repair costs by car make</a:t>
            </a:r>
            <a:r>
              <a:rPr lang="en-US" sz="1900" dirty="0"/>
              <a:t> to identify high-risk or high-cost brands. Adjusting </a:t>
            </a:r>
            <a:r>
              <a:rPr lang="en-US" sz="1900" b="1" dirty="0"/>
              <a:t>premium rates or offering brand-specific maintenance tie-ups</a:t>
            </a:r>
            <a:r>
              <a:rPr lang="en-US" sz="1900" dirty="0"/>
              <a:t> can help reduce claim payouts and improve overall profitability.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5FA34-035D-7122-18D7-D3D376E46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015" y="1027906"/>
            <a:ext cx="1905902" cy="188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993D-ACBE-2145-CAE5-C4474149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366" y="686407"/>
            <a:ext cx="10515600" cy="13255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How does the total claim amount change across different car manufacturing years?</a:t>
            </a:r>
            <a:endParaRPr lang="en-IN" sz="1800" b="1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91D83-858E-E352-D715-BA5E5883B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47" y="241797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Insights:</a:t>
            </a:r>
          </a:p>
          <a:p>
            <a:r>
              <a:rPr lang="en-US" sz="1900" dirty="0"/>
              <a:t>Claims </a:t>
            </a:r>
            <a:r>
              <a:rPr lang="en-US" sz="1900" b="1" dirty="0"/>
              <a:t>increased sharply around the year 2000</a:t>
            </a:r>
            <a:r>
              <a:rPr lang="en-US" sz="1900" dirty="0"/>
              <a:t>, peaking at </a:t>
            </a:r>
            <a:r>
              <a:rPr lang="en-US" sz="1900" b="1" dirty="0"/>
              <a:t>$7.7M</a:t>
            </a:r>
            <a:r>
              <a:rPr lang="en-US" sz="1900" dirty="0"/>
              <a:t>.</a:t>
            </a:r>
          </a:p>
          <a:p>
            <a:r>
              <a:rPr lang="en-US" sz="1900" b="1" dirty="0"/>
              <a:t>2010–2018 cars</a:t>
            </a:r>
            <a:r>
              <a:rPr lang="en-US" sz="1900" dirty="0"/>
              <a:t> show the highest claim range (</a:t>
            </a:r>
            <a:r>
              <a:rPr lang="en-US" sz="1900" b="1" dirty="0"/>
              <a:t>$8M–$9.7M</a:t>
            </a:r>
            <a:r>
              <a:rPr lang="en-US" sz="1900" dirty="0"/>
              <a:t>).</a:t>
            </a:r>
          </a:p>
          <a:p>
            <a:r>
              <a:rPr lang="en-US" sz="1900" dirty="0"/>
              <a:t>Claims </a:t>
            </a:r>
            <a:r>
              <a:rPr lang="en-US" sz="1900" b="1" dirty="0"/>
              <a:t>drop significantly after 2020</a:t>
            </a:r>
            <a:r>
              <a:rPr lang="en-US" sz="1900" dirty="0"/>
              <a:t>, likely due to fewer new claims or reduced usage.</a:t>
            </a:r>
          </a:p>
          <a:p>
            <a:pPr marL="0" indent="0">
              <a:buNone/>
            </a:pPr>
            <a:endParaRPr lang="en-US" sz="1900" b="1" dirty="0"/>
          </a:p>
          <a:p>
            <a:pPr marL="0" indent="0">
              <a:buNone/>
            </a:pPr>
            <a:r>
              <a:rPr lang="en-US" sz="1900" b="1" dirty="0"/>
              <a:t>Recommendation:</a:t>
            </a:r>
          </a:p>
          <a:p>
            <a:r>
              <a:rPr lang="en-US" sz="1900" dirty="0"/>
              <a:t>The company should </a:t>
            </a:r>
            <a:r>
              <a:rPr lang="en-US" sz="1900" b="1" dirty="0"/>
              <a:t>analyze claim frequency and repair cost by vehicle age</a:t>
            </a:r>
            <a:r>
              <a:rPr lang="en-US" sz="1900" dirty="0"/>
              <a:t>. Introduce </a:t>
            </a:r>
            <a:r>
              <a:rPr lang="en-US" sz="1900" b="1" dirty="0"/>
              <a:t>age-based pricing models</a:t>
            </a:r>
            <a:r>
              <a:rPr lang="en-US" sz="1900" dirty="0"/>
              <a:t> — offering lower premiums for newer cars with modern safety features and adjusting rates for older vehicles that show higher repair or maintenance claims.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5946D-D826-64C6-C15C-04AD05C96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658" y="1605968"/>
            <a:ext cx="3860984" cy="17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7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BF6A-C9A8-B759-DB2A-9648CCE0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5171"/>
            <a:ext cx="10515600" cy="13255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Which age group contributes the most to total claim amounts?</a:t>
            </a:r>
            <a:endParaRPr lang="en-IN" sz="1800" b="1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25CB3-083A-F2C3-981A-34192EB38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Insights:</a:t>
            </a:r>
          </a:p>
          <a:p>
            <a:r>
              <a:rPr lang="en-US" sz="1900" b="1" dirty="0"/>
              <a:t>Ages 56–65</a:t>
            </a:r>
            <a:r>
              <a:rPr lang="en-US" sz="1900" dirty="0"/>
              <a:t> have the highest total claims at </a:t>
            </a:r>
            <a:r>
              <a:rPr lang="en-US" sz="1900" b="1" dirty="0"/>
              <a:t>$36M</a:t>
            </a:r>
            <a:r>
              <a:rPr lang="en-US" sz="1900" dirty="0"/>
              <a:t>.</a:t>
            </a:r>
          </a:p>
          <a:p>
            <a:r>
              <a:rPr lang="en-US" sz="1900" b="1" dirty="0"/>
              <a:t>Middle-aged groups (26–55)</a:t>
            </a:r>
            <a:r>
              <a:rPr lang="en-US" sz="1900" dirty="0"/>
              <a:t> maintain steady claim levels around </a:t>
            </a:r>
            <a:r>
              <a:rPr lang="en-US" sz="1900" b="1" dirty="0"/>
              <a:t>$35M</a:t>
            </a:r>
            <a:r>
              <a:rPr lang="en-US" sz="1900" dirty="0"/>
              <a:t>.</a:t>
            </a:r>
          </a:p>
          <a:p>
            <a:r>
              <a:rPr lang="en-US" sz="1900" b="1" dirty="0"/>
              <a:t>Young drivers (15–25)</a:t>
            </a:r>
            <a:r>
              <a:rPr lang="en-US" sz="1900" dirty="0"/>
              <a:t> have the lowest total claims (</a:t>
            </a:r>
            <a:r>
              <a:rPr lang="en-US" sz="1900" b="1" dirty="0"/>
              <a:t>$21M</a:t>
            </a:r>
            <a:r>
              <a:rPr lang="en-US" sz="1900" dirty="0"/>
              <a:t>), likely fewer policyholders.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dirty="0"/>
              <a:t>Recommendation:</a:t>
            </a:r>
          </a:p>
          <a:p>
            <a:r>
              <a:rPr lang="en-US" sz="1900" dirty="0"/>
              <a:t>The insurer should </a:t>
            </a:r>
            <a:r>
              <a:rPr lang="en-US" sz="1900" b="1" dirty="0"/>
              <a:t>develop age-specific insurance plans</a:t>
            </a:r>
            <a:r>
              <a:rPr lang="en-US" sz="1900" dirty="0"/>
              <a:t> — offer </a:t>
            </a:r>
            <a:r>
              <a:rPr lang="en-US" sz="1900" b="1" dirty="0"/>
              <a:t>safe-driver incentives</a:t>
            </a:r>
            <a:r>
              <a:rPr lang="en-US" sz="1900" dirty="0"/>
              <a:t> for middle-aged groups (high claim contributors) and </a:t>
            </a:r>
            <a:r>
              <a:rPr lang="en-US" sz="1900" b="1" dirty="0"/>
              <a:t>affordable starter policies</a:t>
            </a:r>
            <a:r>
              <a:rPr lang="en-US" sz="1900" dirty="0"/>
              <a:t> for young drivers to attract new customers while maintaining risk control.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FAF57-266C-5633-CA65-77BCFC472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952" y="1093552"/>
            <a:ext cx="2703876" cy="181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98E7-E9B2-7ABB-51BA-01CD3D3E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How does the total claim amount vary with the number of kids driving in a household?</a:t>
            </a:r>
            <a:endParaRPr lang="en-IN" sz="1800" b="1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88961-8A7A-F023-301D-0E1F0E987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17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Insights:</a:t>
            </a:r>
          </a:p>
          <a:p>
            <a:r>
              <a:rPr lang="en-US" sz="1900" b="1" dirty="0"/>
              <a:t>Households with no kids driving</a:t>
            </a:r>
            <a:r>
              <a:rPr lang="en-US" sz="1900" dirty="0"/>
              <a:t> have the highest claim amount — </a:t>
            </a:r>
            <a:r>
              <a:rPr lang="en-US" sz="1900" b="1" dirty="0"/>
              <a:t>$133.7K</a:t>
            </a:r>
            <a:r>
              <a:rPr lang="en-US" sz="1900" dirty="0"/>
              <a:t>.</a:t>
            </a:r>
          </a:p>
          <a:p>
            <a:r>
              <a:rPr lang="en-US" sz="1900" dirty="0"/>
              <a:t>Claim amounts </a:t>
            </a:r>
            <a:r>
              <a:rPr lang="en-US" sz="1900" b="1" dirty="0"/>
              <a:t>decrease sharply</a:t>
            </a:r>
            <a:r>
              <a:rPr lang="en-US" sz="1900" dirty="0"/>
              <a:t> as the number of kids driving increases.</a:t>
            </a:r>
          </a:p>
          <a:p>
            <a:r>
              <a:rPr lang="en-US" sz="1900" dirty="0"/>
              <a:t>Families with </a:t>
            </a:r>
            <a:r>
              <a:rPr lang="en-US" sz="1900" b="1" dirty="0"/>
              <a:t>more kids driving (2–3)</a:t>
            </a:r>
            <a:r>
              <a:rPr lang="en-US" sz="1900" dirty="0"/>
              <a:t> show </a:t>
            </a:r>
            <a:r>
              <a:rPr lang="en-US" sz="1900" b="1" dirty="0"/>
              <a:t>much lower total claims</a:t>
            </a:r>
            <a:r>
              <a:rPr lang="en-US" sz="1900" dirty="0"/>
              <a:t>.</a:t>
            </a:r>
          </a:p>
          <a:p>
            <a:pPr marL="0" indent="0">
              <a:buNone/>
            </a:pPr>
            <a:endParaRPr lang="en-US" sz="1900" b="1" dirty="0"/>
          </a:p>
          <a:p>
            <a:pPr marL="0" indent="0">
              <a:buNone/>
            </a:pPr>
            <a:r>
              <a:rPr lang="en-US" sz="1900" b="1" dirty="0"/>
              <a:t>Recommendation:</a:t>
            </a:r>
          </a:p>
          <a:p>
            <a:r>
              <a:rPr lang="en-US" sz="1900" dirty="0"/>
              <a:t>The insurer should </a:t>
            </a:r>
            <a:r>
              <a:rPr lang="en-US" sz="1900" b="1" dirty="0"/>
              <a:t>analyze family driving behavior and risk exposure</a:t>
            </a:r>
            <a:r>
              <a:rPr lang="en-US" sz="1900" dirty="0"/>
              <a:t> to understand this trend. If households with multiple young drivers truly pose lower risk, the company can </a:t>
            </a:r>
            <a:r>
              <a:rPr lang="en-US" sz="1900" b="1" dirty="0"/>
              <a:t>introduce family-based “safe driver” discounts or bundled insurance plans</a:t>
            </a:r>
            <a:r>
              <a:rPr lang="en-US" sz="1900" dirty="0"/>
              <a:t> to attract and retain low-risk family customers.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0011A-3397-A66E-AEAD-34A860899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639" y="1475501"/>
            <a:ext cx="2930248" cy="195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1524D-BC06-141F-E586-6AE45D231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93" y="428385"/>
            <a:ext cx="10515600" cy="132556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How do claim amounts differ by education level and marital status?</a:t>
            </a:r>
            <a:endParaRPr lang="en-IN" sz="1800" b="1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93DE8-8B5E-F35F-80D9-4F0924A30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193" y="175394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Insights:</a:t>
            </a:r>
          </a:p>
          <a:p>
            <a:r>
              <a:rPr lang="en-US" sz="1900" b="1" dirty="0"/>
              <a:t>Single policyholders</a:t>
            </a:r>
            <a:r>
              <a:rPr lang="en-US" sz="1900" dirty="0"/>
              <a:t> have the highest total claim amount — </a:t>
            </a:r>
            <a:r>
              <a:rPr lang="en-US" sz="1900" b="1" dirty="0"/>
              <a:t>$96.3M</a:t>
            </a:r>
            <a:r>
              <a:rPr lang="en-US" sz="1900" dirty="0"/>
              <a:t>.</a:t>
            </a:r>
          </a:p>
          <a:p>
            <a:r>
              <a:rPr lang="en-US" sz="1900" b="1" dirty="0"/>
              <a:t>Married individuals</a:t>
            </a:r>
            <a:r>
              <a:rPr lang="en-US" sz="1900" dirty="0"/>
              <a:t> follow with </a:t>
            </a:r>
            <a:r>
              <a:rPr lang="en-US" sz="1900" b="1" dirty="0"/>
              <a:t>$50.6M</a:t>
            </a:r>
            <a:r>
              <a:rPr lang="en-US" sz="1900" dirty="0"/>
              <a:t>, showing moderate claim activity.</a:t>
            </a:r>
          </a:p>
          <a:p>
            <a:r>
              <a:rPr lang="en-US" sz="1900" b="1" dirty="0"/>
              <a:t>Bachelor’s degree holders</a:t>
            </a:r>
            <a:r>
              <a:rPr lang="en-US" sz="1900" dirty="0"/>
              <a:t> dominate across all marital categories in total claims.</a:t>
            </a:r>
          </a:p>
          <a:p>
            <a:pPr marL="0" indent="0">
              <a:buNone/>
            </a:pPr>
            <a:endParaRPr lang="en-US" sz="1900" b="1" dirty="0"/>
          </a:p>
          <a:p>
            <a:pPr marL="0" indent="0">
              <a:buNone/>
            </a:pPr>
            <a:r>
              <a:rPr lang="en-US" sz="1900" b="1" dirty="0"/>
              <a:t>Recommendation:</a:t>
            </a:r>
          </a:p>
          <a:p>
            <a:r>
              <a:rPr lang="en-US" sz="1900" dirty="0"/>
              <a:t>The company should </a:t>
            </a:r>
            <a:r>
              <a:rPr lang="en-US" sz="1900" b="1" dirty="0"/>
              <a:t>analyze claim frequency and severity among single customers</a:t>
            </a:r>
            <a:r>
              <a:rPr lang="en-US" sz="1900" dirty="0"/>
              <a:t> to identify risk factors. Tailor </a:t>
            </a:r>
            <a:r>
              <a:rPr lang="en-US" sz="1900" b="1" dirty="0"/>
              <a:t>pricing models and engagement programs</a:t>
            </a:r>
            <a:r>
              <a:rPr lang="en-US" sz="1900" dirty="0"/>
              <a:t> for singles, while promoting </a:t>
            </a:r>
            <a:r>
              <a:rPr lang="en-US" sz="1900" b="1" dirty="0"/>
              <a:t>family and loyalty discounts</a:t>
            </a:r>
            <a:r>
              <a:rPr lang="en-US" sz="1900" dirty="0"/>
              <a:t> for married customers, encouraging retention of lower-risk profiles.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7394C-FD3D-FDB4-BAA3-BF43F93D7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898" y="752714"/>
            <a:ext cx="3519578" cy="182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574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DA2D6-7AF8-0F44-167A-375CD543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3EDD5-962B-A2A5-04C5-F53E8F99A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7ACA7-E805-4984-E284-3C7CA434F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0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1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7B45-C2B9-1E16-FF2E-991354247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4FBC-DF1A-4D95-1300-2D4D87F6C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6D4CC-38CA-06AA-1DA9-BFF18C335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8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54D9-3E98-359D-198B-E6588703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419" y="853955"/>
            <a:ext cx="10515600" cy="1325563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Main Business Insights :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2162D-56B4-FB2B-B3CB-160CF96E0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dirty="0"/>
              <a:t>The company holds a </a:t>
            </a:r>
            <a:r>
              <a:rPr lang="en-US" sz="1900" b="1" dirty="0"/>
              <a:t>strong portfolio of 37K+ policies</a:t>
            </a:r>
            <a:r>
              <a:rPr lang="en-US" sz="1900" dirty="0"/>
              <a:t> with a </a:t>
            </a:r>
            <a:r>
              <a:rPr lang="en-US" sz="1900" b="1" dirty="0"/>
              <a:t>moderate average claim of $5K</a:t>
            </a:r>
            <a:r>
              <a:rPr lang="en-US" sz="1900" dirty="0"/>
              <a:t>, reflecting healthy operations.</a:t>
            </a:r>
          </a:p>
          <a:p>
            <a:r>
              <a:rPr lang="en-US" sz="1900" b="1" dirty="0"/>
              <a:t>Balanced gender distribution</a:t>
            </a:r>
            <a:r>
              <a:rPr lang="en-US" sz="1900" dirty="0"/>
              <a:t> ensures equal market coverage and risk spread.</a:t>
            </a:r>
          </a:p>
          <a:p>
            <a:r>
              <a:rPr lang="en-US" sz="1900" b="1" dirty="0"/>
              <a:t>Middle-aged customers (56–65)</a:t>
            </a:r>
            <a:r>
              <a:rPr lang="en-US" sz="1900" dirty="0"/>
              <a:t> and </a:t>
            </a:r>
            <a:r>
              <a:rPr lang="en-US" sz="1900" b="1" dirty="0"/>
              <a:t>Bachelor’s degree holders</a:t>
            </a:r>
            <a:r>
              <a:rPr lang="en-US" sz="1900" dirty="0"/>
              <a:t> generate the </a:t>
            </a:r>
            <a:r>
              <a:rPr lang="en-US" sz="1900" b="1" dirty="0"/>
              <a:t>highest claim amounts</a:t>
            </a:r>
            <a:r>
              <a:rPr lang="en-US" sz="1900" dirty="0"/>
              <a:t>, showing key customer concentration.</a:t>
            </a:r>
          </a:p>
          <a:p>
            <a:r>
              <a:rPr lang="en-US" sz="1900" b="1" dirty="0"/>
              <a:t>Private car users</a:t>
            </a:r>
            <a:r>
              <a:rPr lang="en-US" sz="1900" dirty="0"/>
              <a:t> and </a:t>
            </a:r>
            <a:r>
              <a:rPr lang="en-US" sz="1900" b="1" dirty="0"/>
              <a:t>urban residents</a:t>
            </a:r>
            <a:r>
              <a:rPr lang="en-US" sz="1900" dirty="0"/>
              <a:t> drive most claims, indicating high exposure zones.</a:t>
            </a:r>
          </a:p>
          <a:p>
            <a:r>
              <a:rPr lang="en-US" sz="1900" b="1" dirty="0"/>
              <a:t>Single individuals</a:t>
            </a:r>
            <a:r>
              <a:rPr lang="en-US" sz="1900" dirty="0"/>
              <a:t> and </a:t>
            </a:r>
            <a:r>
              <a:rPr lang="en-US" sz="1900" b="1" dirty="0"/>
              <a:t>older vehicles (2010–2018)</a:t>
            </a:r>
            <a:r>
              <a:rPr lang="en-US" sz="1900" dirty="0"/>
              <a:t> show elevated claim patterns, while newer cars record minimal claims — a sign of improved safety and reduced risk.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48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9F3D-C479-DE93-4977-A8F02BC11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675" y="836703"/>
            <a:ext cx="10515600" cy="1325563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Conclusion :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CE989-4E01-FC2D-439D-D4F8AF31A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The insurer demonstrates </a:t>
            </a:r>
            <a:r>
              <a:rPr lang="en-US" sz="2000" b="1" dirty="0"/>
              <a:t>strong growth and controlled risk</a:t>
            </a:r>
            <a:r>
              <a:rPr lang="en-US" sz="2000" dirty="0"/>
              <a:t>, but claims are concentrated in </a:t>
            </a:r>
            <a:r>
              <a:rPr lang="en-US" sz="2000" b="1" dirty="0"/>
              <a:t>specific customer and regional segments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br>
              <a:rPr lang="en-US" sz="2000" b="1" dirty="0">
                <a:solidFill>
                  <a:srgbClr val="0070C0"/>
                </a:solidFill>
              </a:rPr>
            </a:br>
            <a:r>
              <a:rPr lang="en-US" sz="2000" b="1" dirty="0">
                <a:solidFill>
                  <a:srgbClr val="0070C0"/>
                </a:solidFill>
              </a:rPr>
              <a:t>To enhance profitability and sustainability, the company should:</a:t>
            </a:r>
          </a:p>
          <a:p>
            <a:r>
              <a:rPr lang="en-US" sz="2000" dirty="0"/>
              <a:t>Implement </a:t>
            </a:r>
            <a:r>
              <a:rPr lang="en-US" sz="2000" b="1" dirty="0"/>
              <a:t>risk-based dynamic pricing</a:t>
            </a:r>
            <a:r>
              <a:rPr lang="en-US" sz="2000" dirty="0"/>
              <a:t> by age, education, and region.</a:t>
            </a:r>
          </a:p>
          <a:p>
            <a:r>
              <a:rPr lang="en-US" sz="2000" dirty="0"/>
              <a:t>Focus on </a:t>
            </a:r>
            <a:r>
              <a:rPr lang="en-US" sz="2000" b="1" dirty="0"/>
              <a:t>urban and private-use vehicle segments</a:t>
            </a:r>
            <a:r>
              <a:rPr lang="en-US" sz="2000" dirty="0"/>
              <a:t> with safety awareness and premium optimization.</a:t>
            </a:r>
          </a:p>
          <a:p>
            <a:r>
              <a:rPr lang="en-US" sz="2000" dirty="0"/>
              <a:t>Introduce </a:t>
            </a:r>
            <a:r>
              <a:rPr lang="en-US" sz="2000" b="1" dirty="0"/>
              <a:t>personalized policies and loyalty rewards</a:t>
            </a:r>
            <a:r>
              <a:rPr lang="en-US" sz="2000" dirty="0"/>
              <a:t> for low-risk groups (educated, married, rural customers).</a:t>
            </a:r>
          </a:p>
          <a:p>
            <a:r>
              <a:rPr lang="en-US" sz="2000" dirty="0"/>
              <a:t>Leverage </a:t>
            </a:r>
            <a:r>
              <a:rPr lang="en-US" sz="2000" b="1" dirty="0"/>
              <a:t>predictive analytics</a:t>
            </a:r>
            <a:r>
              <a:rPr lang="en-US" sz="2000" dirty="0"/>
              <a:t> to forecast claim trends and strengthen underwriting decisions.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Result: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A smarter, data-driven insurance model that balances growth, customer satisfaction, and long-term profitability.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2176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2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</TotalTime>
  <Words>1903</Words>
  <Application>Microsoft Office PowerPoint</Application>
  <PresentationFormat>Widescreen</PresentationFormat>
  <Paragraphs>169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Problem statement: </vt:lpstr>
      <vt:lpstr>Data set description</vt:lpstr>
      <vt:lpstr>Data Cleaning :</vt:lpstr>
      <vt:lpstr>Measures and DAX  :</vt:lpstr>
      <vt:lpstr>Visualizations:</vt:lpstr>
      <vt:lpstr>PowerPoint Presentation</vt:lpstr>
      <vt:lpstr>What is the total claim amount and how frequently are claims made?</vt:lpstr>
      <vt:lpstr>How does the total claim amount vary by education level?</vt:lpstr>
      <vt:lpstr>How does the total claim amount differ between private and commercial car use?</vt:lpstr>
      <vt:lpstr>How does the total claim amount vary across different coverage zones?</vt:lpstr>
      <vt:lpstr>Which car makes have the highest total claim amounts?</vt:lpstr>
      <vt:lpstr>How does the total claim amount change across different car manufacturing years?</vt:lpstr>
      <vt:lpstr>Which age group contributes the most to total claim amounts?</vt:lpstr>
      <vt:lpstr>How does the total claim amount vary with the number of kids driving in a household?</vt:lpstr>
      <vt:lpstr>How do claim amounts differ by education level and marital status?</vt:lpstr>
      <vt:lpstr>PowerPoint Presentation</vt:lpstr>
      <vt:lpstr>PowerPoint Presentation</vt:lpstr>
      <vt:lpstr>Main Business Insights : </vt:lpstr>
      <vt:lpstr>Conclusion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yalamanchilli ravindranadh</dc:creator>
  <cp:lastModifiedBy>yalamanchilli ravindranadh</cp:lastModifiedBy>
  <cp:revision>23</cp:revision>
  <dcterms:created xsi:type="dcterms:W3CDTF">2025-10-08T17:29:17Z</dcterms:created>
  <dcterms:modified xsi:type="dcterms:W3CDTF">2025-11-08T07:45:05Z</dcterms:modified>
</cp:coreProperties>
</file>